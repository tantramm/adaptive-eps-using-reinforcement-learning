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RMS e_T over the case [N.m]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SLIP</c:v>
                </c:pt>
                <c:pt idx="2">
                  <c:v>WEAVE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0.644</c:v>
                </c:pt>
                <c:pt idx="1">
                  <c:v>0.6</c:v>
                </c:pt>
                <c:pt idx="2">
                  <c:v>1.308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</c:v>
                </c:pt>
              </c:strCache>
            </c:strRef>
          </c:tx>
          <c:spPr>
            <a:solidFill>
              <a:srgbClr val="CC9900"/>
            </a:solidFill>
          </c:spPr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SLIP</c:v>
                </c:pt>
                <c:pt idx="2">
                  <c:v>WEAVE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0.485</c:v>
                </c:pt>
                <c:pt idx="1">
                  <c:v>0.381</c:v>
                </c:pt>
                <c:pt idx="2">
                  <c:v>0.709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PID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SLIP</c:v>
                </c:pt>
                <c:pt idx="2">
                  <c:v>WEAVE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0.453</c:v>
                </c:pt>
                <c:pt idx="1">
                  <c:v>0.35</c:v>
                </c:pt>
                <c:pt idx="2">
                  <c:v>0.643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the supervisor the method, model, results and code for the planned paper (Map vs PID).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Over-assist mitigation in column EPS: assist map versus PID torque feedback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3DE"/>
                </a:solidFill>
                <a:latin typeface="Calibri"/>
              </a:rPr>
              <a:t>Progress report: method, model, results, code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8D3DE"/>
                </a:solidFill>
                <a:latin typeface="Calibri"/>
              </a:rPr>
              <a:t>Tran Minh Tan  |  Supervisor: Dr. Phung Thanh Huy  |  HCMUT  |  2026-10-10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Main message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Closed-loop torque feedback removes the over-assist that the map cannot; both are limited by sensor noise times high-frequency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-14.1 %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Map: steady over-assist after mu 0.8 -&gt; 0.3 while cornering (SLIP)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B6834"/>
                </a:solidFill>
                <a:latin typeface="Calibri"/>
              </a:rPr>
              <a:t>-0.09 %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65176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PID: same situation, error returns to about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E6E6E"/>
                </a:solidFill>
                <a:latin typeface="Calibri"/>
              </a:rPr>
              <a:t>32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5176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high-frequency gain of the map (lead) relative to PID: why the map is the noisiest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731520" y="4023360"/>
            <a:ext cx="1078992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A37"/>
                </a:solidFill>
                <a:latin typeface="Calibri"/>
              </a:rPr>
              <a:t>Same plant, sensors, actuator, cases and gates for every controller, fixed before tuning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A37"/>
                </a:solidFill>
                <a:latin typeface="Calibri"/>
              </a:rPr>
              <a:t>PID tracks best on the calibration case (R 24.4 % vs map 32.2 %); PI is the smoothest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A37"/>
                </a:solidFill>
                <a:latin typeface="Calibri"/>
              </a:rPr>
              <a:t>Open issue: no controller passes all four gates; gate values and the calibration case need a final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Problem: over-assist when grip drops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The map is calibrated on a dry road and does not know mu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48640" y="1645920"/>
            <a:ext cx="566928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A37"/>
                </a:solidFill>
                <a:latin typeface="Calibri"/>
              </a:rPr>
              <a:t>Assist map: T_a = M(v, |T_s|), calibrated so that T_s = T_d,ref at mu = 0.8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A37"/>
                </a:solidFill>
                <a:latin typeface="Calibri"/>
              </a:rPr>
              <a:t>When mu drops while cornering, the self-aligning torque T_r of the front tires collapses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A37"/>
                </a:solidFill>
                <a:latin typeface="Calibri"/>
              </a:rPr>
              <a:t>Same assist + smaller T_r = lighter steering than intended, exactly near the grip limit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A37"/>
                </a:solidFill>
                <a:latin typeface="Calibri"/>
              </a:rPr>
              <a:t>Feedback alternative: track T_d,ref(v, a_y) with T_a; it needs a_y and a reference, but no estimate of mu</a:t>
            </a:r>
          </a:p>
        </p:txBody>
      </p:sp>
      <p:pic>
        <p:nvPicPr>
          <p:cNvPr id="5" name="Picture 4" descr="Map_vs_PID_SLIP_zoom_down_s999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03520" cy="3986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61722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SLIP, last scene: mu 0.8 -&gt; 0.3 at 48 s (0.35 g, 100 km/h)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Model: closed loop shared by every controller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Plant - Sensors - controller - AssistLimit - Actuator, all at 1 ms; scoring on the true signals</a:t>
            </a:r>
          </a:p>
        </p:txBody>
      </p:sp>
      <p:pic>
        <p:nvPicPr>
          <p:cNvPr id="4" name="Picture 3" descr="Map_vs_PID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4806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Model: plant and environment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Four states (theta2, theta2_dot, beta, gamma), driver = steering-angle source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48640" y="1645920"/>
            <a:ext cx="60350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Column: T_s = K (theta1 - theta2);  J_col theta2_ddot = T_a - T_r + T_s - T_f tanh(c theta2_dot) - C_col theta2_dot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Tires: Pacejka Magic Formula, D = mu F_zf; T_r = (pneumatic trail + caster) F_yf / n_st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Vehicle: 2-DOF bicycle (beta, gamma) at constant speed; a_y = (F_yf + F_yr)/m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T_d,ref(v, a_y): 17 x 17 table; T_a,max(v) = demand + F (F = T_f = 2 N.m)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Sensors: noise (1 resolution step), quantization, 1 ms (T_s) / 10 ms (v, a_y via CAN)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Motor: clamp to +-T_a,max and first-order lag 100 Hz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737360"/>
          <a:ext cx="46634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143.24 N.m/rad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J_col / C_col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0.11 / 1.35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T_f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2.0 N.m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m / Iz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1573 kg / 2873 kg.m2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C_alpha_f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160000 N/rad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column resonance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6.1 Hz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Method: one calibration case, three scoring cases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Tune on CALIB (local seed), score on DRY, SLIP, WEAVE (shared seed 99999)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51760" cy="228600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E6E6E"/>
                </a:solidFill>
                <a:latin typeface="Calibri"/>
              </a:rPr>
              <a:t>CALIB  117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2860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Dry; 20, 60, 100 km/h; 0.1-0.4 g, sine, small corrections; mu step 0.8 -&gt; 0.6. Tuning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51760" cy="228600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91639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DRY  129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Steady torque on the dry road (map design condition). Main metric: max |e_rel|.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651760" cy="228600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39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B6834"/>
                </a:solidFill>
                <a:latin typeface="Calibri"/>
              </a:rPr>
              <a:t>SLIP  63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2860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Grip changes while cornering: puddle, mu rise, mu drop. Main metric: signed error after the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54480"/>
            <a:ext cx="2651760" cy="228600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91639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C9900"/>
                </a:solidFill>
                <a:latin typeface="Calibri"/>
              </a:rPr>
              <a:t>WEAVE  61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22860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Continuous steering: slalom, lane change on mu 0.3, sine on mu 0.2. Main metric: RMS e_T, S, TV.</a:t>
            </a:r>
          </a:p>
        </p:txBody>
      </p:sp>
      <p:pic>
        <p:nvPicPr>
          <p:cNvPr id="16" name="Picture 15" descr="Map_vs_PID_cases_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77639"/>
            <a:ext cx="841799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Method: metrics, gates and selection rule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Written before tuning; one function per metric, shared by all controllers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4805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R [%]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RMS e_T / mean |T_d,ref| in four window groups, equal weights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S [N.m]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RMS of T_a after a 5 Hz high-pass (assist-torque noise)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TV [N.m/s]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total variation of T_a per second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e_rel [%]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mean e_T / mean |T_d,ref| per steady window; &lt; 0 = over-assist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6459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gate (priority order)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 stability with margin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gain x2 and +1 ms keep R &lt; 2x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2 reverse assist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&lt;= 1 % of time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 no bang-bang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&lt;= 1 % extra time at T_a,max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4 steady accuracy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|e_rel| &lt;= 3 % in all windows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Selection: R within 5 % of the controller's own best R, then smallest 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Conclusion = compare whole Pareto fronts (R, S), not single points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Fallback if nothing passes: drop the lowest gate, take the least violation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Controllers: assist map and PID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Map reads T_s and v only; PI/PID read T_s, v, a_y and the actuator clamp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310896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Map (industrial 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T_a = sgn(T_s) M(v, |T_s|) + lead (s/z+1)/(s/p+1)
Dead zone 0.3 N.m, slope &lt;= K_max
K_acc = 6.75 (accuracy), K_stab = 9.5 (PM 45 deg), bang-bang K &lt;= 7.5
Selected: K_max 6.75, z 59.8, p 1666 rad/s
1 tuned parameter, 11 simulations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310896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39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B6834"/>
                </a:solidFill>
                <a:latin typeface="Calibri"/>
              </a:rPr>
              <a:t>PI / PID (torque feedback)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e_T = T_s - T_d,ref(v, a_y)
T_a = Kp e_T + Ki int e_T + Kd d/dt T_s,meas / (Tf s + 1)
Anti-windup on the clamp (Kaw = Ki/Kp)
PI: Kp 1.25, Ki 3.0 (103 simulations)
PID: Kp 1.50, Ki 3.0, Kd 0.015, Tf 3.5 ms (455 simulations)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892040"/>
          <a:ext cx="110642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560320"/>
                <a:gridCol w="2560320"/>
                <a:gridCol w="2560320"/>
              </a:tblGrid>
              <a:tr h="32918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tuned parameters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simulations on CALIB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455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high-frequency gain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188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signals read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T_s, v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T_s, v, a_y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T_s, v, a_y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Result: column resonance and loop shape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The 6.1 Hz resonance caps the PI bandwidth; the map needs a large lead</a:t>
            </a:r>
          </a:p>
        </p:txBody>
      </p:sp>
      <p:pic>
        <p:nvPicPr>
          <p:cNvPr id="4" name="Picture 3" descr="Map_vs_PID_b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484478" cy="512064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680960" y="1828800"/>
            <a:ext cx="402336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Phase margin, discrete 1 ms model: Map 41, PI 12, PID 34 deg (Ms 1.8, 5.1, 1.9)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High-frequency gain: Map 188, PID 5.8, PI 1.25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Noise in T_a scales with this gain, not with the presence of a D term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Result: tracking vs smoothness on CALIB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Whole Pareto fronts; stars are the selected points</a:t>
            </a:r>
          </a:p>
        </p:txBody>
      </p:sp>
      <p:pic>
        <p:nvPicPr>
          <p:cNvPr id="4" name="Picture 3" descr="Map_vs_PID_CALIB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470202" cy="5029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503920" y="1828800"/>
          <a:ext cx="3200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22960"/>
                <a:gridCol w="822960"/>
                <a:gridCol w="82296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 %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 N.m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TV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32.2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0.477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368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PI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24.4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0.248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3840480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775"/>
                </a:solidFill>
                <a:latin typeface="Calibri"/>
              </a:rPr>
              <a:t>The map front lies to the right of the PI/PID fronts wherever S overlaps: the ranking does not depend on the choice of a single 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Result: steady accuracy on CALIB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Map meets the 3 % gate in 9 of 11 windows (fails at 0.4 g); PI/PID miss it only slightly at 0.1 g</a:t>
            </a:r>
          </a:p>
        </p:txBody>
      </p:sp>
      <p:pic>
        <p:nvPicPr>
          <p:cNvPr id="4" name="Picture 3" descr="Map_vs_PID_CALIB_e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10078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Result: scoring cases (noisy sensors, seed 99999)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Whole-case RMS tracking error and total variation of the assist torque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8288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TV of T_a [N.m/s]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DRY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325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SLIP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WEAVE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DRY max |e_rel| 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2.75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1.58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Result: over-assist in the SLIP case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Mean error in % of T_d,ref (negative = steering too light)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754880"/>
                <a:gridCol w="1645920"/>
                <a:gridCol w="1554480"/>
                <a:gridCol w="164592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pud_in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inside 0.4 s puddle (mu 0.2), 80 km/h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-83.5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-56.4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-50.3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up_post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after mu 0.3 -&gt; 0.8, 60 km/h, 0.15 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-0.1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-0.1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down_pre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before mu drop, 100 km/h, 0.35 g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17.4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-1.2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-1.1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down_post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after mu 0.8 -&gt; 0.3, settled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-14.1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-0.1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-0.1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548640" y="4480560"/>
            <a:ext cx="1106424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After the friction drop the map settles at a lighter steering; PI and PID return to the reference (integral action and a_y-based reference)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Inside the 0.4 s puddle nobody can react fully, but the map error is the largest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This gap is structural (feedback + reference vs open-loop map), and is reported as such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Open issues before freezing the method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Found while running all controllers under the same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265176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B6834"/>
                </a:solidFill>
                <a:latin typeface="Calibri"/>
              </a:rPr>
              <a:t>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00400" cy="1920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No controller passes all four gates (reverse assist 1-4 %, e_rel &gt; 3 %): points chosen by the fallback rule. The simulated margin gate accepted a PI with PM 12 deg (Ms 5.1): too weak. Thresholds need a source or a sensitivity study.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566160" cy="265176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916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E6E6E"/>
                </a:solidFill>
                <a:latin typeface="Calibri"/>
              </a:rPr>
              <a:t>Calibration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00400" cy="1920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The mu step 0.8 -&gt; 0.6 hardly changes T_r, so tuning does not see over-assist; only the scoring case SLIP does. Deeper step (e.g. 0.35) planned.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566160" cy="2651760"/>
          </a:xfrm>
          <a:prstGeom prst="round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Model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200400" cy="1920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Simulation only; open-loop driver (no recovery after a slide); motor as first-order lag; noise level assumed; plant not validated against vehicle data.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43484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2194560"/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 (order)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</a:p>
                  </a:txBody>
                  <a:tcPr marL="54864" marR="54864">
                    <a:solidFill>
                      <a:srgbClr val="1424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1 stable + margin (gain x2, +1 ms)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2 reverse assist &lt;= 1 %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fail (1.09)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fail (4.51)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fail (3.74)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3 no bang-bang (&lt;= 1 % extra saturation)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4 |e_rel| &lt;= 3 % in all windows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fail (57.1)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fail (3.25)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fail (3.13)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linear PM / Ms (1 ms discrete model)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41 deg / 1.8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12 deg / 5.1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34 deg / 1.9</a:t>
                      </a:r>
                    </a:p>
                  </a:txBody>
                  <a:tcPr marL="54864" marR="54864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A37"/>
                </a:solidFill>
                <a:latin typeface="Calibri"/>
              </a:rPr>
              <a:t>Code: MATLAB/Simulink R2023a, generated models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775"/>
                </a:solidFill>
                <a:latin typeface="Calibri"/>
              </a:rPr>
              <a:t>Every model is built by a script and has one test; all code and comments 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Model/setup_paths.m        paths (single place)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Model/data/*.json          single data source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Model/PRSM/&lt;Plant|Ref|Sensors|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   AssistLimit|Actuator&gt;/  build_*.m, test_*.m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Model/Controllers/&lt;Map|PI|PID&gt;/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   load_&lt;ctrl&gt;.m, &lt;Ctrl&gt;.mdl, Model_&lt;Ctrl&gt;.mdl,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   script/ design, sweep, select, test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Model/Sim/script/          build_closed_loop, make_cases,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   calib_run, run_cases, make_pair_comparisons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Result/                    Design, Calib, Cases, Compare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37"/>
                </a:solidFill>
                <a:latin typeface="Courier New"/>
              </a:rPr>
              <a:t>tools/build_report_en.py   this report and deck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583680" y="173736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Run: setup_paths; load_pid; build_closed_loop('PID'); run_cases('PID', 10000)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Compare: make_pair_comparisons({'Map','PID'}, 99999)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Tests: test_plant, test_map, test_pid, test_calib, test_gates (all pass)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Repository: github.com/TanTramM/Adaptive-EPS-using-Reinforcement-Learning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Planned paper and next steps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3DE"/>
                </a:solidFill>
                <a:latin typeface="Calibri"/>
              </a:rPr>
              <a:t>Paper: assist map vs PI/PID torque feedback; contributions: fair evaluation framework, resonance and high-frequency gain analysis, quantified over-assist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8D3DE"/>
                </a:solidFill>
                <a:latin typeface="Calibri"/>
              </a:rPr>
              <a:t>Next: settle gate values and the calibration mu step, freeze the method; sensitivity (gates, noise, seed); robustness to +-20 % plant errors; choose the venue. SMC/ISMC stay in the 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